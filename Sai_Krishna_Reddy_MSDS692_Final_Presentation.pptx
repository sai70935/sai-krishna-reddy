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8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A952-FD6A-9558-85A4-ABD91E75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6F276-5E4A-9822-A4A5-1746CC34E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A925A-2293-75B3-9219-63BA12F9E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29365-7531-F16A-77C3-55FDDE62DD6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660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3AE7CA6-91AD-42D5-AF44-4F018B2D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4C8A274-E46E-4BFB-84C8-054266CB1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92BBAEF-0FB1-4436-82BB-B1CF8D71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DDE78A-FBDD-4D58-8777-CB3BC8C0F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13805D7-5B94-4324-9F65-5181E694D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653D381-2565-485E-BA9F-F62F7333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6DF21E2-548C-4E7D-8954-1C437CE7B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EE0DBAE-7C20-4EC7-B0CE-9E4074D128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460C2A3-97AE-4078-B692-7BDB695D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792D364-23C4-4655-9C98-B2B520DF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ioritizing Workforce Retraining&#10;for Occupations Exposed to Automation"/>
          <p:cNvSpPr txBox="1"/>
          <p:nvPr/>
        </p:nvSpPr>
        <p:spPr>
          <a:xfrm>
            <a:off x="850000" y="1250000"/>
            <a:ext cx="10492000" cy="1700000"/>
          </a:xfrm>
          <a:noFill/>
        </p:spPr>
        <p:txBody>
          <a:bodyPr wrap="square" anchor="ctr"/>
          <a:lstStyle/>
          <a:p>
            <a:pPr algn="ctr"/>
            <a:r>
              <a:rPr lang="en-US" sz="3600" b="1">
                <a:solidFill>
                  <a:srgbClr val="203E3A"/>
                </a:solidFill>
                <a:latin typeface="Arial"/>
              </a:rPr>
              <a:t>Prioritizing Workforce Retraining</a:t>
            </a:r>
          </a:p>
          <a:p>
            <a:pPr algn="ctr"/>
            <a:r>
              <a:rPr lang="en-US" sz="3600" b="1">
                <a:solidFill>
                  <a:srgbClr val="203E3A"/>
                </a:solidFill>
                <a:latin typeface="Arial"/>
              </a:rPr>
              <a:t>for Occupations Exposed to Automation</a:t>
            </a:r>
          </a:p>
        </p:txBody>
      </p:sp>
      <p:sp>
        <p:nvSpPr>
          <p:cNvPr id="3" name="Sai Krishna Reddy M."/>
          <p:cNvSpPr txBox="1"/>
          <p:nvPr/>
        </p:nvSpPr>
        <p:spPr>
          <a:xfrm>
            <a:off x="850000" y="3400000"/>
            <a:ext cx="10492000" cy="600000"/>
          </a:xfrm>
          <a:noFill/>
        </p:spPr>
        <p:txBody>
          <a:bodyPr wrap="square" anchor="ctr"/>
          <a:lstStyle/>
          <a:p>
            <a:pPr algn="ctr"/>
            <a:r>
              <a:rPr lang="en-US" sz="2600" b="0">
                <a:solidFill>
                  <a:srgbClr val="203E3A"/>
                </a:solidFill>
                <a:latin typeface="Arial"/>
              </a:rPr>
              <a:t>Sai Krishna Reddy M.</a:t>
            </a:r>
          </a:p>
        </p:txBody>
      </p:sp>
      <p:sp>
        <p:nvSpPr>
          <p:cNvPr id="4" name="MSDS692_S40_Data Science Practicum"/>
          <p:cNvSpPr txBox="1"/>
          <p:nvPr/>
        </p:nvSpPr>
        <p:spPr>
          <a:xfrm>
            <a:off x="850000" y="4150000"/>
            <a:ext cx="10492000" cy="500000"/>
          </a:xfrm>
          <a:noFill/>
        </p:spPr>
        <p:txBody>
          <a:bodyPr wrap="square" anchor="ctr"/>
          <a:lstStyle/>
          <a:p>
            <a:pPr algn="ctr"/>
            <a:r>
              <a:rPr lang="en-US" sz="2200" b="0">
                <a:solidFill>
                  <a:srgbClr val="203E3A"/>
                </a:solidFill>
                <a:latin typeface="Arial"/>
              </a:rPr>
              <a:t>MSDS692_S40_Data Science Practicum</a:t>
            </a:r>
          </a:p>
        </p:txBody>
      </p:sp>
      <p:sp>
        <p:nvSpPr>
          <p:cNvPr id="5" name="Regis University"/>
          <p:cNvSpPr txBox="1"/>
          <p:nvPr/>
        </p:nvSpPr>
        <p:spPr>
          <a:xfrm>
            <a:off x="850000" y="4750000"/>
            <a:ext cx="10492000" cy="500000"/>
          </a:xfrm>
          <a:noFill/>
        </p:spPr>
        <p:txBody>
          <a:bodyPr wrap="square" anchor="ctr"/>
          <a:lstStyle/>
          <a:p>
            <a:pPr algn="ctr"/>
            <a:r>
              <a:rPr lang="en-US" sz="2200" b="0">
                <a:solidFill>
                  <a:srgbClr val="203E3A"/>
                </a:solidFill>
                <a:latin typeface="Arial"/>
              </a:rPr>
              <a:t>Regis University</a:t>
            </a:r>
          </a:p>
        </p:txBody>
      </p:sp>
    </p:spTree>
    <p:extLst>
      <p:ext uri="{BB962C8B-B14F-4D97-AF65-F5344CB8AC3E}">
        <p14:creationId xmlns:p14="http://schemas.microsoft.com/office/powerpoint/2010/main" val="157861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B1D85-70C5-5E26-0D73-9551D4B1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7EC708-686B-F59E-EC2D-4597F0AD52C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0774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>
              <a:defRPr sz="1650" b="1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Workforce boards need to determine where workforce training will make the biggest difference given limited workforce training dollars.</a:t>
            </a:r>
            <a:endParaRPr sz="2000" b="1" dirty="0">
              <a:solidFill>
                <a:srgbClr val="1717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6420BC-B913-80C9-2E79-9D61A36CCBC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077450" cy="45719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394E9B-1CD8-80AF-A177-DD9F30D983A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958215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127000">
              <a:spcAft>
                <a:spcPts val="1100"/>
              </a:spcAft>
              <a:defRPr sz="1350">
                <a:solidFill>
                  <a:srgbClr val="171717"/>
                </a:solidFill>
              </a:defRPr>
            </a:pPr>
            <a:endParaRPr lang="en-IN" sz="1700" dirty="0">
              <a:solidFill>
                <a:srgbClr val="1717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occupations could see changes to routine tasks due to automation. 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resources to train workers for these shifts on the part of workforce boards. 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consideration is given to varying employment demand and workforce size in exposure scores. 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exposure, employment size, job outlook and annual openings should all be taken into account in funding decisions. 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IN"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will make comparisons of these factors to identify an occupation for a targeted training pilot.</a:t>
            </a:r>
            <a:endParaRPr lang="en-US" sz="2000" dirty="0">
              <a:solidFill>
                <a:srgbClr val="17171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8AB2F-7DB2-CE9A-0867-FC9C69A94F9E}"/>
              </a:ext>
            </a:extLst>
          </p:cNvPr>
          <p:cNvSpPr>
            <a:spLocks noGrp="1"/>
          </p:cNvSpPr>
          <p:nvPr/>
        </p:nvSpPr>
        <p:spPr>
          <a:xfrm>
            <a:off x="6819900" y="2209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75" b="1">
                <a:solidFill>
                  <a:srgbClr val="C9573D"/>
                </a:solidFill>
              </a:defRPr>
            </a:defPPr>
          </a:lstStyle>
          <a:p>
            <a:pPr algn="ctr">
              <a:defRPr sz="1575" b="1">
                <a:solidFill>
                  <a:srgbClr val="C9573D"/>
                </a:solidFill>
              </a:defRPr>
            </a:pPr>
            <a:endParaRPr sz="1575" b="1" dirty="0">
              <a:solidFill>
                <a:srgbClr val="C9573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D8FBE-04F3-38DA-30D3-F9AB7F3C39BA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32786D"/>
                </a:solidFill>
              </a:defRPr>
            </a:defPPr>
          </a:lstStyle>
          <a:p>
            <a:pPr algn="ctr">
              <a:defRPr sz="2925" b="1">
                <a:solidFill>
                  <a:srgbClr val="32786D"/>
                </a:solidFill>
              </a:defRPr>
            </a:pPr>
            <a:endParaRPr sz="2925" b="1" dirty="0">
              <a:solidFill>
                <a:srgbClr val="32786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AE8BC7-8ADF-5857-3786-5DA609B04BDE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endParaRPr sz="1275" b="0" dirty="0">
              <a:solidFill>
                <a:srgbClr val="5D5A5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88C4A-7780-8256-0AFB-BC2AF8AAEDD8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C9573D"/>
                </a:solidFill>
              </a:defRPr>
            </a:defPPr>
          </a:lstStyle>
          <a:p>
            <a:pPr algn="ctr">
              <a:defRPr sz="2925" b="1">
                <a:solidFill>
                  <a:srgbClr val="C9573D"/>
                </a:solidFill>
              </a:defRPr>
            </a:pPr>
            <a:endParaRPr sz="2925" b="1" dirty="0">
              <a:solidFill>
                <a:srgbClr val="C9573D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58608-F3E4-76FF-8F05-7BFB9103EC1B}"/>
              </a:ext>
            </a:extLst>
          </p:cNvPr>
          <p:cNvSpPr>
            <a:spLocks noGrp="1"/>
          </p:cNvSpPr>
          <p:nvPr/>
        </p:nvSpPr>
        <p:spPr>
          <a:xfrm>
            <a:off x="8858250" y="32861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endParaRPr sz="1275" b="0" dirty="0">
              <a:solidFill>
                <a:srgbClr val="5D5A5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43158-212F-05E1-BCDF-930DF1B1E431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DB9937"/>
                </a:solidFill>
              </a:defRPr>
            </a:defPPr>
          </a:lstStyle>
          <a:p>
            <a:pPr algn="ctr">
              <a:defRPr sz="2925" b="1">
                <a:solidFill>
                  <a:srgbClr val="DB9937"/>
                </a:solidFill>
              </a:defRPr>
            </a:pPr>
            <a:endParaRPr sz="2925" b="1" dirty="0">
              <a:solidFill>
                <a:srgbClr val="DB9937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92E875-C481-8473-8015-6B5B8758B9BD}"/>
              </a:ext>
            </a:extLst>
          </p:cNvPr>
          <p:cNvSpPr>
            <a:spLocks noGrp="1"/>
          </p:cNvSpPr>
          <p:nvPr/>
        </p:nvSpPr>
        <p:spPr>
          <a:xfrm>
            <a:off x="7524750" y="46196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endParaRPr sz="1275" b="0" dirty="0">
              <a:solidFill>
                <a:srgbClr val="5D5A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8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387026A-D7FC-4953-AD32-79F298ABB00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791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WORKFORCE BOARDS SHOULD PRIORITIZE RETRAINING FOR LARGE CLERICAL OCCUPATIONS, STARTING WITH BOOKKEEPING.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7116A1-C46E-4436-91E6-7C8C64BB4F5E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5A1C9-C351-4CB6-B923-A928173D0FFC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US" sz="1700" dirty="0">
                <a:solidFill>
                  <a:srgbClr val="171717"/>
                </a:solidFill>
              </a:rPr>
              <a:t>Limited training budgets should first reach occupations where many workers face changing job requirements.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US" sz="1700" dirty="0">
                <a:solidFill>
                  <a:srgbClr val="171717"/>
                </a:solidFill>
              </a:rPr>
              <a:t>Large clerical occupations share routine information tasks that technology can increasingly perform.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US" sz="1700" dirty="0">
                <a:solidFill>
                  <a:srgbClr val="171717"/>
                </a:solidFill>
              </a:rPr>
              <a:t>Bookkeeping combines substantial task exposure with a workforce of about 1.53 million people.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US" sz="1700" dirty="0">
                <a:solidFill>
                  <a:srgbClr val="171717"/>
                </a:solidFill>
              </a:rPr>
              <a:t>Its projected decline increases the need to prepare workers before their current duties change further.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lang="en-US" sz="1700" dirty="0">
                <a:solidFill>
                  <a:srgbClr val="171717"/>
                </a:solidFill>
              </a:rPr>
              <a:t>Beginning with one large occupation gives the board a practical and measurable starting point.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9E6E8-6961-4790-99E5-39C2C45F4C8D}"/>
              </a:ext>
            </a:extLst>
          </p:cNvPr>
          <p:cNvSpPr>
            <a:spLocks noGrp="1"/>
          </p:cNvSpPr>
          <p:nvPr/>
        </p:nvSpPr>
        <p:spPr>
          <a:xfrm>
            <a:off x="6477000" y="1924050"/>
            <a:ext cx="4762500" cy="3333750"/>
          </a:xfrm>
          <a:prstGeom prst="rect">
            <a:avLst/>
          </a:prstGeom>
          <a:solidFill>
            <a:srgbClr val="FFFDF8"/>
          </a:solidFill>
          <a:ln w="9525">
            <a:solidFill>
              <a:srgbClr val="D2C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885EC-163E-4747-BF2D-A0B6F879B422}"/>
              </a:ext>
            </a:extLst>
          </p:cNvPr>
          <p:cNvSpPr>
            <a:spLocks noGrp="1"/>
          </p:cNvSpPr>
          <p:nvPr/>
        </p:nvSpPr>
        <p:spPr>
          <a:xfrm>
            <a:off x="6819900" y="22098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75" b="1">
                <a:solidFill>
                  <a:srgbClr val="C9573D"/>
                </a:solidFill>
              </a:defRPr>
            </a:defPPr>
          </a:lstStyle>
          <a:p>
            <a:pPr algn="ctr">
              <a:defRPr sz="1575" b="1">
                <a:solidFill>
                  <a:srgbClr val="C9573D"/>
                </a:solidFill>
              </a:defRPr>
            </a:pPr>
            <a:r>
              <a:rPr sz="1575" b="1">
                <a:solidFill>
                  <a:srgbClr val="C9573D"/>
                </a:solidFill>
              </a:rPr>
              <a:t>WHY BOOKKEEPING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8F90C1-F6A8-4FB8-AEDA-9B38FACF708A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32786D"/>
                </a:solidFill>
              </a:defRPr>
            </a:defPPr>
          </a:lstStyle>
          <a:p>
            <a:pPr algn="ctr">
              <a:defRPr sz="2925" b="1">
                <a:solidFill>
                  <a:srgbClr val="32786D"/>
                </a:solidFill>
              </a:defRPr>
            </a:pPr>
            <a:r>
              <a:rPr sz="2925" b="1">
                <a:solidFill>
                  <a:srgbClr val="32786D"/>
                </a:solidFill>
              </a:rPr>
              <a:t>1.53M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7AA34-036A-4BF2-9B5F-04BA414F8C6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r>
              <a:rPr sz="1275" b="0">
                <a:solidFill>
                  <a:srgbClr val="5D5A54"/>
                </a:solidFill>
              </a:rPr>
              <a:t>workers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1EBF4A-78E4-49AC-977A-E1155C8005D5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C9573D"/>
                </a:solidFill>
              </a:defRPr>
            </a:defPPr>
          </a:lstStyle>
          <a:p>
            <a:pPr algn="ctr">
              <a:defRPr sz="2925" b="1">
                <a:solidFill>
                  <a:srgbClr val="C9573D"/>
                </a:solidFill>
              </a:defRPr>
            </a:pPr>
            <a:r>
              <a:rPr sz="2925" b="1">
                <a:solidFill>
                  <a:srgbClr val="C9573D"/>
                </a:solidFill>
              </a:rPr>
              <a:t>−5.6%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5651C3-CB02-4CA8-8484-2088D77C324C}"/>
              </a:ext>
            </a:extLst>
          </p:cNvPr>
          <p:cNvSpPr>
            <a:spLocks noGrp="1"/>
          </p:cNvSpPr>
          <p:nvPr/>
        </p:nvSpPr>
        <p:spPr>
          <a:xfrm>
            <a:off x="8858250" y="32861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r>
              <a:rPr sz="1275" b="0">
                <a:solidFill>
                  <a:srgbClr val="5D5A54"/>
                </a:solidFill>
              </a:rPr>
              <a:t>projected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9E7CFF-824A-4706-A113-CCF79F39C73A}"/>
              </a:ext>
            </a:extLst>
          </p:cNvPr>
          <p:cNvSpPr>
            <a:spLocks noGrp="1"/>
          </p:cNvSpPr>
          <p:nvPr/>
        </p:nvSpPr>
        <p:spPr>
          <a:xfrm>
            <a:off x="6838950" y="3810000"/>
            <a:ext cx="4038600" cy="19050"/>
          </a:xfrm>
          <a:prstGeom prst="rect">
            <a:avLst/>
          </a:prstGeom>
          <a:solidFill>
            <a:srgbClr val="D2C8B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8EA582-4310-4774-B4FA-DB5257544F2E}"/>
              </a:ext>
            </a:extLst>
          </p:cNvPr>
          <p:cNvSpPr>
            <a:spLocks noGrp="1"/>
          </p:cNvSpPr>
          <p:nvPr/>
        </p:nvSpPr>
        <p:spPr>
          <a:xfrm>
            <a:off x="7524750" y="4095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925" b="1">
                <a:solidFill>
                  <a:srgbClr val="DB9937"/>
                </a:solidFill>
              </a:defRPr>
            </a:defPPr>
          </a:lstStyle>
          <a:p>
            <a:pPr algn="ctr">
              <a:defRPr sz="2925" b="1">
                <a:solidFill>
                  <a:srgbClr val="DB9937"/>
                </a:solidFill>
              </a:defRPr>
            </a:pPr>
            <a:r>
              <a:rPr sz="2925" b="1">
                <a:solidFill>
                  <a:srgbClr val="DB9937"/>
                </a:solidFill>
              </a:rPr>
              <a:t>144,100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997371-806C-426E-9D99-CA1AF9FD5E93}"/>
              </a:ext>
            </a:extLst>
          </p:cNvPr>
          <p:cNvSpPr>
            <a:spLocks noGrp="1"/>
          </p:cNvSpPr>
          <p:nvPr/>
        </p:nvSpPr>
        <p:spPr>
          <a:xfrm>
            <a:off x="7524750" y="46196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0">
                <a:solidFill>
                  <a:srgbClr val="5D5A54"/>
                </a:solidFill>
              </a:defRPr>
            </a:defPPr>
          </a:lstStyle>
          <a:p>
            <a:pPr algn="ctr">
              <a:defRPr sz="1275" b="0">
                <a:solidFill>
                  <a:srgbClr val="5D5A54"/>
                </a:solidFill>
              </a:defRPr>
            </a:pPr>
            <a:r>
              <a:rPr sz="1275" b="0">
                <a:solidFill>
                  <a:srgbClr val="5D5A54"/>
                </a:solidFill>
              </a:rPr>
              <a:t>annual openings</a:t>
            </a:r>
          </a:p>
        </p:txBody>
      </p:sp>
    </p:spTree>
    <p:extLst>
      <p:ext uri="{BB962C8B-B14F-4D97-AF65-F5344CB8AC3E}">
        <p14:creationId xmlns:p14="http://schemas.microsoft.com/office/powerpoint/2010/main" val="198667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A454C-D1B5-438D-A2EA-13A783AA705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AUTOMATION IS CHANGING ROUTINE INFORMATION-PROCESSING WORK ACROSS CLERICAL OCCUPATIONS.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61807B-1E29-41BF-9F85-FA6F0261FAD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6ADEA2-AC50-4E60-A7B9-FA4492564502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Automation often changes individual duties before it changes the total number of jobs.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Software can now handle more data entry, transaction matching and routine report preparation.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Clerical workers are therefore spending less time producing records and more time checking their accuracy.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B45B9-E9D6-403F-A513-3D8F684F4E81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32786D"/>
                </a:solidFill>
              </a:defRPr>
            </a:defPPr>
          </a:lstStyle>
          <a:p>
            <a:pPr algn="l">
              <a:defRPr sz="1575" b="1">
                <a:solidFill>
                  <a:srgbClr val="32786D"/>
                </a:solidFill>
              </a:defRPr>
            </a:pPr>
            <a:r>
              <a:rPr sz="1575" b="1">
                <a:solidFill>
                  <a:srgbClr val="32786D"/>
                </a:solidFill>
              </a:rPr>
              <a:t>WORK THAT GAINS IMPORTANCE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57F3C-2F20-415A-B619-CED88F32C186}"/>
              </a:ext>
            </a:extLst>
          </p:cNvPr>
          <p:cNvSpPr>
            <a:spLocks noGrp="1"/>
          </p:cNvSpPr>
          <p:nvPr/>
        </p:nvSpPr>
        <p:spPr>
          <a:xfrm>
            <a:off x="6572250" y="2495550"/>
            <a:ext cx="419100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1E6EF-6FB0-4FED-AF6C-19B1DF91038A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41910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50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Exception handling, interpretation and communication become more important as routine work decreases.</a:t>
            </a:r>
          </a:p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Retraining should help workers move toward these changing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56681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DD47ED-5AA8-4F1B-BEAD-1544EB1F681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LIMITED TRAINING FUNDS REQUIRE A CLEAR METHOD FOR SELECTING OCCUPATIONS.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032187-75B0-4C87-8D81-F20CC37861AB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0B167-165B-45D8-81A1-69093F270DB0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Occupations with similar exposure scores can create very different workforce needs.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board should establish its decision criteria before reviewing which occupations rank highest.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Each occupation should be compared on task exposure, workforce size, job outlook and annual openings.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2D9604-B8B3-499E-BF6A-D77F0E489066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32786D"/>
                </a:solidFill>
              </a:defRPr>
            </a:defPPr>
          </a:lstStyle>
          <a:p>
            <a:pPr algn="l">
              <a:defRPr sz="1575" b="1">
                <a:solidFill>
                  <a:srgbClr val="32786D"/>
                </a:solidFill>
              </a:defRPr>
            </a:pPr>
            <a:r>
              <a:rPr sz="1575" b="1">
                <a:solidFill>
                  <a:srgbClr val="32786D"/>
                </a:solidFill>
              </a:rPr>
              <a:t>DECISION STANDARD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99B52-FD23-4298-AC80-6777E831A115}"/>
              </a:ext>
            </a:extLst>
          </p:cNvPr>
          <p:cNvSpPr>
            <a:spLocks noGrp="1"/>
          </p:cNvSpPr>
          <p:nvPr/>
        </p:nvSpPr>
        <p:spPr>
          <a:xfrm>
            <a:off x="6572250" y="2495550"/>
            <a:ext cx="419100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ECAAF-A416-4881-925D-6E8E612A8AAB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41910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50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Using the same measures for every occupation reduces the influence of assumptions or current headlines.</a:t>
            </a:r>
          </a:p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process should be repeated as occupational tasks and labor-market conditions change.</a:t>
            </a:r>
          </a:p>
        </p:txBody>
      </p:sp>
    </p:spTree>
    <p:extLst>
      <p:ext uri="{BB962C8B-B14F-4D97-AF65-F5344CB8AC3E}">
        <p14:creationId xmlns:p14="http://schemas.microsoft.com/office/powerpoint/2010/main" val="67467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0579A1-A36A-46A0-A4E4-3A05EF7228B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CLERICAL OCCUPATIONS APPEAR FREQUENTLY AMONG THE JOBS WITH THE HIGHEST TASK EXPOSURE.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7BBF2-FAF7-439B-9896-A10B3E58B94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0C380A-2DD8-4C61-BAD2-B65E331EFCF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Seven of the ten highest exposure scores belong to clerical or administrative occupations.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This concentration shows a pattern across an occupational group rather than one isolated job.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highest-ranked roles depend heavily on repeated processing, documentation and computer-based work.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Bookkeeping ranks below several small occupations, but it affects far more workers.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concentration supports a clerical training strategy with bookkeeping as the first case.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3DE41-9402-4840-9D63-9A4FEEE9D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039714"/>
            <a:ext cx="5429250" cy="344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3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194091-FB0C-415B-8152-BE16B6DDBB1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BOOKKEEPING REMAINS A MAJOR WORKFORCE CONCERN DESPITE ITS PROJECTED EMPLOYMENT DECLINE.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EEE398-8FB5-4E04-8B0D-387FD81D125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525D96-7283-4B1A-AAF1-3B4B6A44659B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A projected decline means fewer total positions, but it does not mean the occupation will disappear.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Bookkeeping starts with about 1.53 million workers and remains above 1.44 million in the projection.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5.6 percent decline signals that current workers may face increasing pressure to update their skills.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Approximately 144,100 annual openings show continuing replacement demand within the occupation.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combination of decline, openings and workforce size makes bookkeeping a continuing workforce issue.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C96E7-F3EE-43E5-A450-3BBC3094F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001803"/>
            <a:ext cx="5429250" cy="31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0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9BBE58-B167-4B09-80EE-786BEBAF902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TRAINING PRIORITY SHOULD REFLECT TASK EXPOSURE AND THE NUMBER OF WORKERS AFFECTED.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9DBFB5-9B34-4F6B-A2DB-464C67EF0D74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AA0160-83EF-48AE-9B43-D4B2597C63B8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Task exposure indicates how strongly an occupation may experience changes in daily work.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Workforce size indicates how many people could benefit from a training investment.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High exposure and a large workforce create a stronger public need than exposure alone.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High-exposure occupations with few workers may still need support, but through smaller programs.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Combining both measures prevents a small occupation from receiving priority only because its score is high.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AEC13-15A9-4117-9F48-71FC9A1F3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382631"/>
            <a:ext cx="5429250" cy="256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8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0ED92-1AC7-4906-B4AC-46A04688ED9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JOB OUTLOOK AND ANNUAL OPENINGS HELP SEPARATE URGENT PRIORITIES FROM HIGH EXPOSURE ALONE.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19097-5A48-4CDB-9554-0C838C64F8F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A7DBC-7BE2-497B-A579-C99593621EF4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Job outlook shows whether total employment is expected to increase or decrease.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Annual openings show how often employers may still need workers despite that overall direction.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High exposure with declining employment creates urgency for workers already in the occupation.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009882-3DF3-4280-84ED-41195BFA0A1D}"/>
              </a:ext>
            </a:extLst>
          </p:cNvPr>
          <p:cNvSpPr>
            <a:spLocks noGrp="1"/>
          </p:cNvSpPr>
          <p:nvPr/>
        </p:nvSpPr>
        <p:spPr>
          <a:xfrm>
            <a:off x="6572250" y="203835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32786D"/>
                </a:solidFill>
              </a:defRPr>
            </a:defPPr>
          </a:lstStyle>
          <a:p>
            <a:pPr algn="l">
              <a:defRPr sz="1575" b="1">
                <a:solidFill>
                  <a:srgbClr val="32786D"/>
                </a:solidFill>
              </a:defRPr>
            </a:pPr>
            <a:r>
              <a:rPr sz="1575" b="1">
                <a:solidFill>
                  <a:srgbClr val="32786D"/>
                </a:solidFill>
              </a:rPr>
              <a:t>WHAT CHANGES THE PRIORITY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46B3FE-5DF0-464D-AB1E-46627BD8425C}"/>
              </a:ext>
            </a:extLst>
          </p:cNvPr>
          <p:cNvSpPr>
            <a:spLocks noGrp="1"/>
          </p:cNvSpPr>
          <p:nvPr/>
        </p:nvSpPr>
        <p:spPr>
          <a:xfrm>
            <a:off x="6572250" y="2495550"/>
            <a:ext cx="419100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F5DCC-1E61-4989-9B1E-C4AC01EAAA72}"/>
              </a:ext>
            </a:extLst>
          </p:cNvPr>
          <p:cNvSpPr>
            <a:spLocks noGrp="1"/>
          </p:cNvSpPr>
          <p:nvPr/>
        </p:nvSpPr>
        <p:spPr>
          <a:xfrm>
            <a:off x="6667500" y="2781300"/>
            <a:ext cx="41910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50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High exposure with many openings also creates a need to prepare people entering the occupation.</a:t>
            </a:r>
          </a:p>
          <a:p>
            <a:pPr marL="228600" indent="-101600">
              <a:spcAft>
                <a:spcPts val="1800"/>
              </a:spcAft>
              <a:buChar char="•"/>
              <a:defRPr sz="150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These measures help the board distinguish immediate retraining needs from exposure that only requires monitoring.</a:t>
            </a:r>
          </a:p>
        </p:txBody>
      </p:sp>
    </p:spTree>
    <p:extLst>
      <p:ext uri="{BB962C8B-B14F-4D97-AF65-F5344CB8AC3E}">
        <p14:creationId xmlns:p14="http://schemas.microsoft.com/office/powerpoint/2010/main" val="70923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DDABE6-5281-42F3-A318-8A7F9896CE0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THIS ANALYSIS MEASURES TASK EXPOSURE, BUT IT CANNOT PREDICT LAYOFFS OR PROVE JOB DISPLACEMENT.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46B1D-812D-4701-8E3C-496EC8C9D67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F5C557-2981-40E3-AF8B-DE07272DB79A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exposure score describes occupational tasks, not an employer's decision to adopt a specific technology.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data contains no record of layoffs, displacement events or individual employment outcomes.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Employment projections reflect economic and demographic changes in addition to automation.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National occupational averages can hide differences between industries and local labor markets.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findings should guide investigation and pilot design rather than predict who will lose a job.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DB6AA-BB4F-44FB-B4EC-5C4EABB53BE8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4762500" cy="3429000"/>
          </a:xfrm>
          <a:prstGeom prst="rect">
            <a:avLst/>
          </a:prstGeom>
          <a:solidFill>
            <a:srgbClr val="FFFDF8"/>
          </a:solidFill>
          <a:ln w="9525">
            <a:solidFill>
              <a:srgbClr val="D2C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B5229-999E-4691-BF5C-0EF6630B3AE0}"/>
              </a:ext>
            </a:extLst>
          </p:cNvPr>
          <p:cNvSpPr>
            <a:spLocks noGrp="1"/>
          </p:cNvSpPr>
          <p:nvPr/>
        </p:nvSpPr>
        <p:spPr>
          <a:xfrm>
            <a:off x="6819900" y="21717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32786D"/>
                </a:solidFill>
              </a:defRPr>
            </a:defPPr>
          </a:lstStyle>
          <a:p>
            <a:pPr algn="l">
              <a:defRPr sz="1500" b="1">
                <a:solidFill>
                  <a:srgbClr val="32786D"/>
                </a:solidFill>
              </a:defRPr>
            </a:pPr>
            <a:r>
              <a:rPr sz="1500" b="1">
                <a:solidFill>
                  <a:srgbClr val="32786D"/>
                </a:solidFill>
              </a:rPr>
              <a:t>WHAT THE ANALYSIS CAN SUPPORT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B685D-B084-419A-A339-A8319A1ED21A}"/>
              </a:ext>
            </a:extLst>
          </p:cNvPr>
          <p:cNvSpPr>
            <a:spLocks noGrp="1"/>
          </p:cNvSpPr>
          <p:nvPr/>
        </p:nvSpPr>
        <p:spPr>
          <a:xfrm>
            <a:off x="6819900" y="2686050"/>
            <a:ext cx="4000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171717"/>
                </a:solidFill>
              </a:defRPr>
            </a:defPPr>
          </a:lstStyle>
          <a:p>
            <a:pPr algn="l">
              <a:defRPr sz="1425" b="0">
                <a:solidFill>
                  <a:srgbClr val="171717"/>
                </a:solidFill>
              </a:defRPr>
            </a:pPr>
            <a:r>
              <a:rPr sz="1700" b="0" dirty="0">
                <a:solidFill>
                  <a:srgbClr val="171717"/>
                </a:solidFill>
              </a:rPr>
              <a:t>Identify occupations with more routine work</a:t>
            </a:r>
          </a:p>
          <a:p>
            <a:endParaRPr sz="1700" b="0" dirty="0">
              <a:solidFill>
                <a:srgbClr val="171717"/>
              </a:solidFill>
            </a:endParaRPr>
          </a:p>
          <a:p>
            <a:pPr algn="l">
              <a:defRPr sz="1425" b="0">
                <a:solidFill>
                  <a:srgbClr val="171717"/>
                </a:solidFill>
              </a:defRPr>
            </a:pPr>
            <a:r>
              <a:rPr sz="1700" b="0" dirty="0">
                <a:solidFill>
                  <a:srgbClr val="171717"/>
                </a:solidFill>
              </a:rPr>
              <a:t>Compare employment size and projected change</a:t>
            </a:r>
          </a:p>
          <a:p>
            <a:endParaRPr sz="1700" b="0" dirty="0">
              <a:solidFill>
                <a:srgbClr val="171717"/>
              </a:solidFill>
            </a:endParaRPr>
          </a:p>
          <a:p>
            <a:pPr algn="l">
              <a:defRPr sz="1425" b="0">
                <a:solidFill>
                  <a:srgbClr val="171717"/>
                </a:solidFill>
              </a:defRPr>
            </a:pPr>
            <a:r>
              <a:rPr sz="1700" b="0" dirty="0">
                <a:solidFill>
                  <a:srgbClr val="171717"/>
                </a:solidFill>
              </a:rPr>
              <a:t>Estimate where training may be most useful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8C7BB-A258-4CB5-892B-574064C5A4D0}"/>
              </a:ext>
            </a:extLst>
          </p:cNvPr>
          <p:cNvSpPr>
            <a:spLocks noGrp="1"/>
          </p:cNvSpPr>
          <p:nvPr/>
        </p:nvSpPr>
        <p:spPr>
          <a:xfrm>
            <a:off x="6762750" y="4857750"/>
            <a:ext cx="419100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7FB76-9116-46BF-A885-CA7FCC32B52B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C9573D"/>
                </a:solidFill>
              </a:defRPr>
            </a:defPPr>
          </a:lstStyle>
          <a:p>
            <a:pPr algn="ctr">
              <a:defRPr sz="1350" b="1">
                <a:solidFill>
                  <a:srgbClr val="C9573D"/>
                </a:solidFill>
              </a:defRPr>
            </a:pPr>
            <a:r>
              <a:rPr sz="1350" b="1" dirty="0">
                <a:solidFill>
                  <a:srgbClr val="C9573D"/>
                </a:solidFill>
              </a:rPr>
              <a:t>The pilot must test whether training improves outcomes.</a:t>
            </a:r>
          </a:p>
        </p:txBody>
      </p:sp>
    </p:spTree>
    <p:extLst>
      <p:ext uri="{BB962C8B-B14F-4D97-AF65-F5344CB8AC3E}">
        <p14:creationId xmlns:p14="http://schemas.microsoft.com/office/powerpoint/2010/main" val="176412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FCE4FAB-F1EB-4C97-BD2B-813ED28D92F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2578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A BOOKKEEPING PILOT CAN TEST WHETHER TARGETED TRAINING IMPROVES WORKER OUTCOMES.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44B5D6-5281-4C33-998C-118B6F01B67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0D23B7-6A5C-4D1D-9A29-E0FC5BA79646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pilot should begin with a clearly defined group of bookkeeping workers or job seekers.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The board should record each participant's employment and wage position before training starts.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Training should address digital tools, error investigation and work that requires judgment.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Employment, retention and wage outcomes should be reviewed after three and six months.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A comparison group can show whether participants improved beyond normal labor-market changes.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084D5-678A-4715-862F-065F9042A543}"/>
              </a:ext>
            </a:extLst>
          </p:cNvPr>
          <p:cNvSpPr>
            <a:spLocks noGrp="1"/>
          </p:cNvSpPr>
          <p:nvPr/>
        </p:nvSpPr>
        <p:spPr>
          <a:xfrm>
            <a:off x="6248400" y="2400300"/>
            <a:ext cx="1219200" cy="2171700"/>
          </a:xfrm>
          <a:prstGeom prst="rect">
            <a:avLst/>
          </a:prstGeom>
          <a:solidFill>
            <a:srgbClr val="32786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B07F67-9613-4D79-A5B9-899BB7DE716F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381000" cy="381000"/>
          </a:xfrm>
          <a:prstGeom prst="ellipse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D1B98B-DF10-4517-ABFD-85EEC6A1E242}"/>
              </a:ext>
            </a:extLst>
          </p:cNvPr>
          <p:cNvSpPr>
            <a:spLocks noGrp="1"/>
          </p:cNvSpPr>
          <p:nvPr/>
        </p:nvSpPr>
        <p:spPr>
          <a:xfrm>
            <a:off x="6667500" y="2657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1">
                <a:solidFill>
                  <a:srgbClr val="32786D"/>
                </a:solidFill>
              </a:defRPr>
            </a:defPPr>
          </a:lstStyle>
          <a:p>
            <a:pPr algn="ctr">
              <a:defRPr sz="1125" b="1">
                <a:solidFill>
                  <a:srgbClr val="32786D"/>
                </a:solidFill>
              </a:defRPr>
            </a:pPr>
            <a:r>
              <a:rPr sz="1125" b="1">
                <a:solidFill>
                  <a:srgbClr val="32786D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EE28C8-DD7C-49AF-9202-00BBB4F62387}"/>
              </a:ext>
            </a:extLst>
          </p:cNvPr>
          <p:cNvSpPr>
            <a:spLocks noGrp="1"/>
          </p:cNvSpPr>
          <p:nvPr/>
        </p:nvSpPr>
        <p:spPr>
          <a:xfrm>
            <a:off x="6305550" y="31337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FFDF8"/>
                </a:solidFill>
              </a:defRPr>
            </a:defPPr>
          </a:lstStyle>
          <a:p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SELECT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8D0484-6704-46A6-A773-A258FA916995}"/>
              </a:ext>
            </a:extLst>
          </p:cNvPr>
          <p:cNvSpPr>
            <a:spLocks noGrp="1"/>
          </p:cNvSpPr>
          <p:nvPr/>
        </p:nvSpPr>
        <p:spPr>
          <a:xfrm>
            <a:off x="6343650" y="3562350"/>
            <a:ext cx="102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FFFDF8"/>
                </a:solidFill>
              </a:defRPr>
            </a:defPPr>
          </a:lstStyle>
          <a:p>
            <a:pPr algn="ctr">
              <a:defRPr sz="1050" b="0">
                <a:solidFill>
                  <a:srgbClr val="FFFDF8"/>
                </a:solidFill>
              </a:defRPr>
            </a:pPr>
            <a:r>
              <a:rPr sz="1050" b="0">
                <a:solidFill>
                  <a:srgbClr val="FFFDF8"/>
                </a:solidFill>
              </a:rPr>
              <a:t>Choose a defined group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5AD04D-4C08-4E8B-A10D-588577C7929E}"/>
              </a:ext>
            </a:extLst>
          </p:cNvPr>
          <p:cNvSpPr>
            <a:spLocks noGrp="1"/>
          </p:cNvSpPr>
          <p:nvPr/>
        </p:nvSpPr>
        <p:spPr>
          <a:xfrm>
            <a:off x="7600950" y="2400300"/>
            <a:ext cx="1219200" cy="2171700"/>
          </a:xfrm>
          <a:prstGeom prst="rect">
            <a:avLst/>
          </a:prstGeom>
          <a:solidFill>
            <a:srgbClr val="32786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5BE002-034E-48C0-BF3E-3171CB03F597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381000" cy="381000"/>
          </a:xfrm>
          <a:prstGeom prst="ellipse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1F143B-D28E-4EBB-B6AF-33BCC234B231}"/>
              </a:ext>
            </a:extLst>
          </p:cNvPr>
          <p:cNvSpPr>
            <a:spLocks noGrp="1"/>
          </p:cNvSpPr>
          <p:nvPr/>
        </p:nvSpPr>
        <p:spPr>
          <a:xfrm>
            <a:off x="8020050" y="2657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1">
                <a:solidFill>
                  <a:srgbClr val="32786D"/>
                </a:solidFill>
              </a:defRPr>
            </a:defPPr>
          </a:lstStyle>
          <a:p>
            <a:pPr algn="ctr">
              <a:defRPr sz="1125" b="1">
                <a:solidFill>
                  <a:srgbClr val="32786D"/>
                </a:solidFill>
              </a:defRPr>
            </a:pPr>
            <a:r>
              <a:rPr sz="1125" b="1">
                <a:solidFill>
                  <a:srgbClr val="32786D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5881B-2CEB-422E-A2F3-EE017013FA54}"/>
              </a:ext>
            </a:extLst>
          </p:cNvPr>
          <p:cNvSpPr>
            <a:spLocks noGrp="1"/>
          </p:cNvSpPr>
          <p:nvPr/>
        </p:nvSpPr>
        <p:spPr>
          <a:xfrm>
            <a:off x="7658100" y="31337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FFDF8"/>
                </a:solidFill>
              </a:defRPr>
            </a:defPPr>
          </a:lstStyle>
          <a:p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TRAIN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15AFCC-77A6-4BE4-B672-8B567F2A0A8D}"/>
              </a:ext>
            </a:extLst>
          </p:cNvPr>
          <p:cNvSpPr>
            <a:spLocks noGrp="1"/>
          </p:cNvSpPr>
          <p:nvPr/>
        </p:nvSpPr>
        <p:spPr>
          <a:xfrm>
            <a:off x="7696200" y="3562350"/>
            <a:ext cx="102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FFFDF8"/>
                </a:solidFill>
              </a:defRPr>
            </a:defPPr>
          </a:lstStyle>
          <a:p>
            <a:pPr algn="ctr">
              <a:defRPr sz="1050" b="0">
                <a:solidFill>
                  <a:srgbClr val="FFFDF8"/>
                </a:solidFill>
              </a:defRPr>
            </a:pPr>
            <a:r>
              <a:rPr sz="1050" b="0">
                <a:solidFill>
                  <a:srgbClr val="FFFDF8"/>
                </a:solidFill>
              </a:rPr>
              <a:t>Build skills for changing tasks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17624F-0746-4596-BE8B-9F1611F85304}"/>
              </a:ext>
            </a:extLst>
          </p:cNvPr>
          <p:cNvSpPr>
            <a:spLocks noGrp="1"/>
          </p:cNvSpPr>
          <p:nvPr/>
        </p:nvSpPr>
        <p:spPr>
          <a:xfrm>
            <a:off x="8953500" y="2400300"/>
            <a:ext cx="1219200" cy="2171700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4D507A-EB45-41BA-BA28-85D089EBEDC7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381000" cy="381000"/>
          </a:xfrm>
          <a:prstGeom prst="ellipse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8874E-762E-4C4B-A225-AE30E7E0EBE7}"/>
              </a:ext>
            </a:extLst>
          </p:cNvPr>
          <p:cNvSpPr>
            <a:spLocks noGrp="1"/>
          </p:cNvSpPr>
          <p:nvPr/>
        </p:nvSpPr>
        <p:spPr>
          <a:xfrm>
            <a:off x="9372600" y="2657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1">
                <a:solidFill>
                  <a:srgbClr val="C9573D"/>
                </a:solidFill>
              </a:defRPr>
            </a:defPPr>
          </a:lstStyle>
          <a:p>
            <a:pPr algn="ctr">
              <a:defRPr sz="1125" b="1">
                <a:solidFill>
                  <a:srgbClr val="C9573D"/>
                </a:solidFill>
              </a:defRPr>
            </a:pPr>
            <a:r>
              <a:rPr sz="1125" b="1">
                <a:solidFill>
                  <a:srgbClr val="C9573D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5B05D-40D7-4A0F-AC2E-3E9CA7F53F0B}"/>
              </a:ext>
            </a:extLst>
          </p:cNvPr>
          <p:cNvSpPr>
            <a:spLocks noGrp="1"/>
          </p:cNvSpPr>
          <p:nvPr/>
        </p:nvSpPr>
        <p:spPr>
          <a:xfrm>
            <a:off x="9010650" y="31337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FFDF8"/>
                </a:solidFill>
              </a:defRPr>
            </a:defPPr>
          </a:lstStyle>
          <a:p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MEASURE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CAB43D-7C62-48A7-AA0B-07965DF2D12A}"/>
              </a:ext>
            </a:extLst>
          </p:cNvPr>
          <p:cNvSpPr>
            <a:spLocks noGrp="1"/>
          </p:cNvSpPr>
          <p:nvPr/>
        </p:nvSpPr>
        <p:spPr>
          <a:xfrm>
            <a:off x="9048750" y="3562350"/>
            <a:ext cx="102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FFFDF8"/>
                </a:solidFill>
              </a:defRPr>
            </a:defPPr>
          </a:lstStyle>
          <a:p>
            <a:pPr algn="ctr">
              <a:defRPr sz="1050" b="0">
                <a:solidFill>
                  <a:srgbClr val="FFFDF8"/>
                </a:solidFill>
              </a:defRPr>
            </a:pPr>
            <a:r>
              <a:rPr sz="1050" b="0">
                <a:solidFill>
                  <a:srgbClr val="FFFDF8"/>
                </a:solidFill>
              </a:rPr>
              <a:t>Check work and wage outcomes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49FCA0-6440-40A5-874F-D4E3CC61AACE}"/>
              </a:ext>
            </a:extLst>
          </p:cNvPr>
          <p:cNvSpPr>
            <a:spLocks noGrp="1"/>
          </p:cNvSpPr>
          <p:nvPr/>
        </p:nvSpPr>
        <p:spPr>
          <a:xfrm>
            <a:off x="10306050" y="2400300"/>
            <a:ext cx="1219200" cy="2171700"/>
          </a:xfrm>
          <a:prstGeom prst="rect">
            <a:avLst/>
          </a:prstGeom>
          <a:solidFill>
            <a:srgbClr val="DB993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D32DA8-0E78-47F9-9A86-0B759C22D5AF}"/>
              </a:ext>
            </a:extLst>
          </p:cNvPr>
          <p:cNvSpPr>
            <a:spLocks noGrp="1"/>
          </p:cNvSpPr>
          <p:nvPr/>
        </p:nvSpPr>
        <p:spPr>
          <a:xfrm>
            <a:off x="10725150" y="2571750"/>
            <a:ext cx="381000" cy="381000"/>
          </a:xfrm>
          <a:prstGeom prst="ellipse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B13334-F8EF-43EC-9E89-8DD44349FE74}"/>
              </a:ext>
            </a:extLst>
          </p:cNvPr>
          <p:cNvSpPr>
            <a:spLocks noGrp="1"/>
          </p:cNvSpPr>
          <p:nvPr/>
        </p:nvSpPr>
        <p:spPr>
          <a:xfrm>
            <a:off x="10725150" y="26574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1">
                <a:solidFill>
                  <a:srgbClr val="DB9937"/>
                </a:solidFill>
              </a:defRPr>
            </a:defPPr>
          </a:lstStyle>
          <a:p>
            <a:pPr algn="ctr">
              <a:defRPr sz="1125" b="1">
                <a:solidFill>
                  <a:srgbClr val="DB9937"/>
                </a:solidFill>
              </a:defRPr>
            </a:pPr>
            <a:r>
              <a:rPr sz="1125" b="1">
                <a:solidFill>
                  <a:srgbClr val="DB9937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1315B6-5B28-4458-968F-1500AA5552D7}"/>
              </a:ext>
            </a:extLst>
          </p:cNvPr>
          <p:cNvSpPr>
            <a:spLocks noGrp="1"/>
          </p:cNvSpPr>
          <p:nvPr/>
        </p:nvSpPr>
        <p:spPr>
          <a:xfrm>
            <a:off x="10363200" y="3133725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FFDF8"/>
                </a:solidFill>
              </a:defRPr>
            </a:defPPr>
          </a:lstStyle>
          <a:p>
            <a:pPr algn="ctr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DECIDE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B52C32-3A4C-4D57-A7AE-89A25046F484}"/>
              </a:ext>
            </a:extLst>
          </p:cNvPr>
          <p:cNvSpPr>
            <a:spLocks noGrp="1"/>
          </p:cNvSpPr>
          <p:nvPr/>
        </p:nvSpPr>
        <p:spPr>
          <a:xfrm>
            <a:off x="10401300" y="3562350"/>
            <a:ext cx="1028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0">
                <a:solidFill>
                  <a:srgbClr val="FFFDF8"/>
                </a:solidFill>
              </a:defRPr>
            </a:defPPr>
          </a:lstStyle>
          <a:p>
            <a:pPr algn="ctr">
              <a:defRPr sz="1050" b="0">
                <a:solidFill>
                  <a:srgbClr val="FFFDF8"/>
                </a:solidFill>
              </a:defRPr>
            </a:pPr>
            <a:r>
              <a:rPr sz="1050" b="0">
                <a:solidFill>
                  <a:srgbClr val="FFFDF8"/>
                </a:solidFill>
              </a:rPr>
              <a:t>Expand only if results improve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A5D7BE-88DC-4EBB-AE68-2229898D3E33}"/>
              </a:ext>
            </a:extLst>
          </p:cNvPr>
          <p:cNvSpPr>
            <a:spLocks noGrp="1"/>
          </p:cNvSpPr>
          <p:nvPr/>
        </p:nvSpPr>
        <p:spPr>
          <a:xfrm>
            <a:off x="6572250" y="4857750"/>
            <a:ext cx="4629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171717"/>
                </a:solidFill>
              </a:defRPr>
            </a:defPPr>
          </a:lstStyle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 dirty="0">
                <a:solidFill>
                  <a:srgbClr val="171717"/>
                </a:solidFill>
              </a:rPr>
              <a:t>Compare participant results with a similar group before expanding the program.</a:t>
            </a:r>
          </a:p>
        </p:txBody>
      </p:sp>
    </p:spTree>
    <p:extLst>
      <p:ext uri="{BB962C8B-B14F-4D97-AF65-F5344CB8AC3E}">
        <p14:creationId xmlns:p14="http://schemas.microsoft.com/office/powerpoint/2010/main" val="874689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273CDC-06D4-4AEE-A666-9F5A98FC140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577348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171717"/>
                </a:solidFill>
              </a:defRPr>
            </a:defPPr>
          </a:lstStyle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</a:rPr>
              <a:t>WORKFORCE BOARDS SHOULD BEGIN WITH BOOKKEEPING AND EXPAND TRAINING ONLY WHEN THE PILOT PRODUCES RESULTS.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F964A-192C-4F75-A995-918C1200959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16255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70FFBF-410E-461A-A6FD-7421C049566D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953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>
            <a:defPPr>
              <a:defRPr sz="1350">
                <a:solidFill>
                  <a:srgbClr val="171717"/>
                </a:solidFill>
              </a:defRPr>
            </a:defPPr>
          </a:lstStyle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Start with a small bookkeeping cohort so the board can manage cost and evaluate delivery closely.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Set the outcome targets before training begins, including employment, retention and wage measures.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Continue the program only when participants show meaningful improvement against the comparison group.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Revise or stop the training if the pilot does not produce better worker outcomes.</a:t>
            </a:r>
          </a:p>
          <a:p>
            <a:pPr marL="228600" indent="-101600">
              <a:spcAft>
                <a:spcPts val="1100"/>
              </a:spcAft>
              <a:buChar char="•"/>
              <a:defRPr sz="1350">
                <a:solidFill>
                  <a:srgbClr val="171717"/>
                </a:solidFill>
              </a:defRPr>
            </a:pPr>
            <a:r>
              <a:rPr sz="1700" dirty="0">
                <a:solidFill>
                  <a:srgbClr val="171717"/>
                </a:solidFill>
              </a:rPr>
              <a:t>Use successful results to design services for related clerical occupations with similar task exposure.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E5EB2-4C86-4B08-9FB0-7B4E28F48FF1}"/>
              </a:ext>
            </a:extLst>
          </p:cNvPr>
          <p:cNvSpPr>
            <a:spLocks noGrp="1"/>
          </p:cNvSpPr>
          <p:nvPr/>
        </p:nvSpPr>
        <p:spPr>
          <a:xfrm>
            <a:off x="6705600" y="2076450"/>
            <a:ext cx="4095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3000" b="1">
                <a:solidFill>
                  <a:srgbClr val="32786D"/>
                </a:solidFill>
              </a:defRPr>
            </a:defPPr>
          </a:lstStyle>
          <a:p>
            <a:pPr algn="ctr">
              <a:defRPr sz="3000" b="1">
                <a:solidFill>
                  <a:srgbClr val="32786D"/>
                </a:solidFill>
              </a:defRPr>
            </a:pPr>
            <a:r>
              <a:rPr sz="3000" b="1">
                <a:solidFill>
                  <a:srgbClr val="32786D"/>
                </a:solidFill>
              </a:rPr>
              <a:t>BEGIN WITH</a:t>
            </a:r>
          </a:p>
          <a:p>
            <a:pPr algn="ctr">
              <a:defRPr sz="3000" b="1">
                <a:solidFill>
                  <a:srgbClr val="32786D"/>
                </a:solidFill>
              </a:defRPr>
            </a:pPr>
            <a:r>
              <a:rPr sz="3000" b="1">
                <a:solidFill>
                  <a:srgbClr val="32786D"/>
                </a:solidFill>
              </a:rPr>
              <a:t>BOOKKEEPING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5A76FF-1142-4439-8824-59549DA366DC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619500" cy="28575"/>
          </a:xfrm>
          <a:prstGeom prst="rect">
            <a:avLst/>
          </a:prstGeom>
          <a:solidFill>
            <a:srgbClr val="C9573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2907AD-5F44-4E4C-B29B-E1571AB68CD4}"/>
              </a:ext>
            </a:extLst>
          </p:cNvPr>
          <p:cNvSpPr>
            <a:spLocks noGrp="1"/>
          </p:cNvSpPr>
          <p:nvPr/>
        </p:nvSpPr>
        <p:spPr>
          <a:xfrm>
            <a:off x="6667500" y="3667125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75" b="1">
                <a:solidFill>
                  <a:srgbClr val="C9573D"/>
                </a:solidFill>
              </a:defRPr>
            </a:defPPr>
          </a:lstStyle>
          <a:p>
            <a:pPr algn="ctr">
              <a:defRPr sz="1575" b="1">
                <a:solidFill>
                  <a:srgbClr val="C9573D"/>
                </a:solidFill>
              </a:defRPr>
            </a:pPr>
            <a:r>
              <a:rPr sz="1575" b="1">
                <a:solidFill>
                  <a:srgbClr val="C9573D"/>
                </a:solidFill>
              </a:rPr>
              <a:t>PILOT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AC71C-7588-44E7-B541-7CFC5CB7203A}"/>
              </a:ext>
            </a:extLst>
          </p:cNvPr>
          <p:cNvSpPr>
            <a:spLocks noGrp="1"/>
          </p:cNvSpPr>
          <p:nvPr/>
        </p:nvSpPr>
        <p:spPr>
          <a:xfrm>
            <a:off x="8096250" y="3667125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75" b="1">
                <a:solidFill>
                  <a:srgbClr val="DB9937"/>
                </a:solidFill>
              </a:defRPr>
            </a:defPPr>
          </a:lstStyle>
          <a:p>
            <a:pPr algn="ctr">
              <a:defRPr sz="1575" b="1">
                <a:solidFill>
                  <a:srgbClr val="DB9937"/>
                </a:solidFill>
              </a:defRPr>
            </a:pPr>
            <a:r>
              <a:rPr sz="1575" b="1">
                <a:solidFill>
                  <a:srgbClr val="DB9937"/>
                </a:solidFill>
              </a:rPr>
              <a:t>MEASURE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2BFCA8-E938-443F-B293-73EFD33BFD7B}"/>
              </a:ext>
            </a:extLst>
          </p:cNvPr>
          <p:cNvSpPr>
            <a:spLocks noGrp="1"/>
          </p:cNvSpPr>
          <p:nvPr/>
        </p:nvSpPr>
        <p:spPr>
          <a:xfrm>
            <a:off x="9667875" y="3667125"/>
            <a:ext cx="133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75" b="1">
                <a:solidFill>
                  <a:srgbClr val="32786D"/>
                </a:solidFill>
              </a:defRPr>
            </a:defPPr>
          </a:lstStyle>
          <a:p>
            <a:pPr algn="ctr">
              <a:defRPr sz="1575" b="1">
                <a:solidFill>
                  <a:srgbClr val="32786D"/>
                </a:solidFill>
              </a:defRPr>
            </a:pPr>
            <a:r>
              <a:rPr sz="1575" b="1">
                <a:solidFill>
                  <a:srgbClr val="32786D"/>
                </a:solidFill>
              </a:rPr>
              <a:t>EXPAND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DDCE6B-743B-4752-A42F-4C7822F34357}"/>
              </a:ext>
            </a:extLst>
          </p:cNvPr>
          <p:cNvSpPr>
            <a:spLocks noGrp="1"/>
          </p:cNvSpPr>
          <p:nvPr/>
        </p:nvSpPr>
        <p:spPr>
          <a:xfrm>
            <a:off x="6819900" y="4476750"/>
            <a:ext cx="3905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171717"/>
                </a:solidFill>
              </a:defRPr>
            </a:defPPr>
          </a:lstStyle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The analysis identifies where to begin.</a:t>
            </a:r>
          </a:p>
          <a:p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The pilot determines whether the investment works.</a:t>
            </a:r>
          </a:p>
        </p:txBody>
      </p:sp>
    </p:spTree>
    <p:extLst>
      <p:ext uri="{BB962C8B-B14F-4D97-AF65-F5344CB8AC3E}">
        <p14:creationId xmlns:p14="http://schemas.microsoft.com/office/powerpoint/2010/main" val="157861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800000" y="2200000"/>
            <a:ext cx="10592000" cy="900000"/>
          </a:xfrm>
          <a:noFill/>
        </p:spPr>
        <p:txBody>
          <a:bodyPr anchor="ctr"/>
          <a:lstStyle/>
          <a:p>
            <a:pPr algn="ctr"/>
            <a:r>
              <a:rPr lang="en-US" sz="4800" b="1">
                <a:solidFill>
                  <a:srgbClr val="203E3A"/>
                </a:solidFill>
                <a:latin typeface="Arial"/>
              </a:rPr>
              <a:t>THANK YOU</a:t>
            </a:r>
          </a:p>
        </p:txBody>
      </p:sp>
      <p:sp>
        <p:nvSpPr>
          <p:cNvPr id="3" name="Any questions?"/>
          <p:cNvSpPr txBox="1"/>
          <p:nvPr/>
        </p:nvSpPr>
        <p:spPr>
          <a:xfrm>
            <a:off x="800000" y="3300000"/>
            <a:ext cx="10592000" cy="900000"/>
          </a:xfrm>
          <a:noFill/>
        </p:spPr>
        <p:txBody>
          <a:bodyPr anchor="ctr"/>
          <a:lstStyle/>
          <a:p>
            <a:pPr algn="ctr"/>
            <a:r>
              <a:rPr lang="en-US" sz="3200" b="0">
                <a:solidFill>
                  <a:srgbClr val="203E3A"/>
                </a:solidFill>
                <a:latin typeface="Arial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786104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1114</Words>
  <Application>Microsoft Office PowerPoint</Application>
  <DocSecurity>0</DocSecurity>
  <PresentationFormat>Widescreen</PresentationFormat>
  <Paragraphs>111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M, Sai Krishna Reddy</cp:lastModifiedBy>
  <cp:revision>3</cp:revision>
  <dcterms:created xsi:type="dcterms:W3CDTF">2026-10-10T21:16:24Z</dcterms:created>
  <dcterms:modified xsi:type="dcterms:W3CDTF">2026-10-17T01:10:24Z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2026-10-15T05:05:25Z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57caea47-280d-4ae3-8e4d-e21e156f2e1e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